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12801600" cy="9601200" type="A3"/>
  <p:notesSz cx="12801600" cy="96012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>
      <p:cViewPr varScale="1">
        <p:scale>
          <a:sx n="75" d="100"/>
          <a:sy n="75" d="100"/>
        </p:scale>
        <p:origin x="1164" y="5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546725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7251700" y="0"/>
            <a:ext cx="5546725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5CB5E8-4C94-498F-A4DD-6091E826D8C9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40213" y="1200150"/>
            <a:ext cx="4321175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79525" y="4621213"/>
            <a:ext cx="10242550" cy="37798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20188"/>
            <a:ext cx="5546725" cy="4810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7251700" y="9120188"/>
            <a:ext cx="5546725" cy="4810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B3B413-B3B2-4BB4-B790-8BEF02BD28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1350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B3B413-B3B2-4BB4-B790-8BEF02BD284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1821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60120" y="2976372"/>
            <a:ext cx="10881360" cy="20162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920240" y="5376672"/>
            <a:ext cx="8961120" cy="24003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40080" y="2208276"/>
            <a:ext cx="5568696" cy="63367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592824" y="2208276"/>
            <a:ext cx="5568696" cy="63367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91275" y="284926"/>
            <a:ext cx="5857240" cy="12077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40080" y="2208276"/>
            <a:ext cx="11521440" cy="63367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352544" y="8929116"/>
            <a:ext cx="4096512" cy="4800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40080" y="8929116"/>
            <a:ext cx="2944368" cy="4800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217152" y="8929116"/>
            <a:ext cx="2944368" cy="4800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dgs.un.org/goals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373412" y="2414462"/>
            <a:ext cx="11819255" cy="529590"/>
          </a:xfrm>
          <a:custGeom>
            <a:avLst/>
            <a:gdLst/>
            <a:ahLst/>
            <a:cxnLst/>
            <a:rect l="l" t="t" r="r" b="b"/>
            <a:pathLst>
              <a:path w="11819255" h="529589">
                <a:moveTo>
                  <a:pt x="0" y="12"/>
                </a:moveTo>
                <a:lnTo>
                  <a:pt x="5892899" y="12"/>
                </a:lnTo>
                <a:lnTo>
                  <a:pt x="5892899" y="520512"/>
                </a:lnTo>
                <a:lnTo>
                  <a:pt x="0" y="520512"/>
                </a:lnTo>
                <a:lnTo>
                  <a:pt x="0" y="12"/>
                </a:lnTo>
                <a:close/>
              </a:path>
              <a:path w="11819255" h="529589">
                <a:moveTo>
                  <a:pt x="5925762" y="0"/>
                </a:moveTo>
                <a:lnTo>
                  <a:pt x="11818662" y="0"/>
                </a:lnTo>
                <a:lnTo>
                  <a:pt x="11818662" y="529499"/>
                </a:lnTo>
                <a:lnTo>
                  <a:pt x="5925762" y="529499"/>
                </a:lnTo>
                <a:lnTo>
                  <a:pt x="5925762" y="0"/>
                </a:lnTo>
                <a:close/>
              </a:path>
            </a:pathLst>
          </a:custGeom>
          <a:ln w="25399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70724" y="3053850"/>
            <a:ext cx="5895975" cy="3094990"/>
          </a:xfrm>
          <a:custGeom>
            <a:avLst/>
            <a:gdLst/>
            <a:ahLst/>
            <a:cxnLst/>
            <a:rect l="l" t="t" r="r" b="b"/>
            <a:pathLst>
              <a:path w="5895975" h="3094990">
                <a:moveTo>
                  <a:pt x="2699" y="0"/>
                </a:moveTo>
                <a:lnTo>
                  <a:pt x="5895599" y="0"/>
                </a:lnTo>
                <a:lnTo>
                  <a:pt x="5895599" y="2550899"/>
                </a:lnTo>
                <a:lnTo>
                  <a:pt x="2699" y="2550899"/>
                </a:lnTo>
                <a:lnTo>
                  <a:pt x="2699" y="0"/>
                </a:lnTo>
                <a:close/>
              </a:path>
              <a:path w="5895975" h="3094990">
                <a:moveTo>
                  <a:pt x="0" y="2574367"/>
                </a:moveTo>
                <a:lnTo>
                  <a:pt x="3896399" y="2574367"/>
                </a:lnTo>
                <a:lnTo>
                  <a:pt x="3896399" y="3094867"/>
                </a:lnTo>
                <a:lnTo>
                  <a:pt x="0" y="3094867"/>
                </a:lnTo>
                <a:lnTo>
                  <a:pt x="0" y="2574367"/>
                </a:lnTo>
                <a:close/>
              </a:path>
            </a:pathLst>
          </a:custGeom>
          <a:ln w="25399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43749" y="5641425"/>
            <a:ext cx="27393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3.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SMART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OBJECTIVES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300125" y="5623717"/>
            <a:ext cx="3896995" cy="529590"/>
          </a:xfrm>
          <a:custGeom>
            <a:avLst/>
            <a:gdLst/>
            <a:ahLst/>
            <a:cxnLst/>
            <a:rect l="l" t="t" r="r" b="b"/>
            <a:pathLst>
              <a:path w="3896995" h="529589">
                <a:moveTo>
                  <a:pt x="0" y="0"/>
                </a:moveTo>
                <a:lnTo>
                  <a:pt x="3896399" y="0"/>
                </a:lnTo>
                <a:lnTo>
                  <a:pt x="3896399" y="529499"/>
                </a:lnTo>
                <a:lnTo>
                  <a:pt x="0" y="529499"/>
                </a:lnTo>
                <a:lnTo>
                  <a:pt x="0" y="0"/>
                </a:lnTo>
                <a:close/>
              </a:path>
            </a:pathLst>
          </a:custGeom>
          <a:ln w="25399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373150" y="5636926"/>
            <a:ext cx="103631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4.</a:t>
            </a:r>
            <a:r>
              <a:rPr sz="2400" spc="-10" dirty="0">
                <a:latin typeface="Calibri"/>
                <a:cs typeface="Calibri"/>
              </a:rPr>
              <a:t> PRICE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333125" y="6259800"/>
            <a:ext cx="3896995" cy="3208571"/>
          </a:xfrm>
          <a:prstGeom prst="rect">
            <a:avLst/>
          </a:prstGeom>
          <a:ln w="25399">
            <a:solidFill>
              <a:srgbClr val="7F7F7F"/>
            </a:solidFill>
          </a:ln>
        </p:spPr>
        <p:txBody>
          <a:bodyPr vert="horz" wrap="square" lIns="0" tIns="2794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220"/>
              </a:spcBef>
            </a:pPr>
            <a:r>
              <a:rPr lang="en-US" sz="2000" spc="-10" dirty="0">
                <a:solidFill>
                  <a:srgbClr val="595959"/>
                </a:solidFill>
                <a:latin typeface="Calibri"/>
                <a:cs typeface="Calibri"/>
              </a:rPr>
              <a:t>Cross-Subsidized Freemium model:</a:t>
            </a:r>
          </a:p>
          <a:p>
            <a:pPr marL="85725">
              <a:lnSpc>
                <a:spcPct val="100000"/>
              </a:lnSpc>
              <a:spcBef>
                <a:spcPts val="220"/>
              </a:spcBef>
            </a:pPr>
            <a:r>
              <a:rPr lang="en-US" sz="2000" spc="-10" dirty="0">
                <a:solidFill>
                  <a:srgbClr val="595959"/>
                </a:solidFill>
                <a:latin typeface="Calibri"/>
                <a:cs typeface="Calibri"/>
              </a:rPr>
              <a:t>B2B clients pay a monthly SaaS subscription, fee which is much lower than imposed state fines per unhired individual, providing instant ROI and helping subsidize the free tier for B2C students.</a:t>
            </a:r>
          </a:p>
          <a:p>
            <a:pPr marL="85725">
              <a:lnSpc>
                <a:spcPct val="100000"/>
              </a:lnSpc>
              <a:spcBef>
                <a:spcPts val="220"/>
              </a:spcBef>
            </a:pPr>
            <a:endParaRPr lang="en-US" sz="2000" spc="-10" dirty="0">
              <a:solidFill>
                <a:srgbClr val="595959"/>
              </a:solidFill>
              <a:latin typeface="Calibri"/>
              <a:cs typeface="Calibri"/>
            </a:endParaRPr>
          </a:p>
          <a:p>
            <a:pPr marL="85725">
              <a:lnSpc>
                <a:spcPct val="100000"/>
              </a:lnSpc>
              <a:spcBef>
                <a:spcPts val="220"/>
              </a:spcBef>
            </a:pPr>
            <a:endParaRPr lang="en-US" sz="2000" spc="-10" dirty="0">
              <a:solidFill>
                <a:srgbClr val="595959"/>
              </a:solidFill>
              <a:latin typeface="Calibri"/>
              <a:cs typeface="Calibri"/>
            </a:endParaRPr>
          </a:p>
          <a:p>
            <a:pPr marL="85725">
              <a:lnSpc>
                <a:spcPct val="100000"/>
              </a:lnSpc>
              <a:spcBef>
                <a:spcPts val="220"/>
              </a:spcBef>
            </a:pPr>
            <a:endParaRPr sz="2000" dirty="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8229524" y="5628217"/>
            <a:ext cx="3896995" cy="520700"/>
          </a:xfrm>
          <a:custGeom>
            <a:avLst/>
            <a:gdLst/>
            <a:ahLst/>
            <a:cxnLst/>
            <a:rect l="l" t="t" r="r" b="b"/>
            <a:pathLst>
              <a:path w="3896995" h="520700">
                <a:moveTo>
                  <a:pt x="0" y="0"/>
                </a:moveTo>
                <a:lnTo>
                  <a:pt x="3896399" y="0"/>
                </a:lnTo>
                <a:lnTo>
                  <a:pt x="3896399" y="520499"/>
                </a:lnTo>
                <a:lnTo>
                  <a:pt x="0" y="520499"/>
                </a:lnTo>
                <a:lnTo>
                  <a:pt x="0" y="0"/>
                </a:lnTo>
                <a:close/>
              </a:path>
            </a:pathLst>
          </a:custGeom>
          <a:ln w="25399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8302549" y="5641425"/>
            <a:ext cx="19056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Calibri"/>
                <a:cs typeface="Calibri"/>
              </a:rPr>
              <a:t>5.</a:t>
            </a:r>
            <a:r>
              <a:rPr sz="2400" spc="-1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PROMOTION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315249" y="6827605"/>
            <a:ext cx="231775" cy="304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280"/>
              </a:lnSpc>
            </a:pPr>
            <a:r>
              <a:rPr sz="2400" spc="-25" dirty="0">
                <a:latin typeface="Calibri"/>
                <a:cs typeface="Calibri"/>
              </a:rPr>
              <a:t>5.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295524" y="6259924"/>
            <a:ext cx="3896995" cy="3113405"/>
          </a:xfrm>
          <a:custGeom>
            <a:avLst/>
            <a:gdLst/>
            <a:ahLst/>
            <a:cxnLst/>
            <a:rect l="l" t="t" r="r" b="b"/>
            <a:pathLst>
              <a:path w="3896995" h="3113404">
                <a:moveTo>
                  <a:pt x="3896399" y="3112799"/>
                </a:moveTo>
                <a:lnTo>
                  <a:pt x="0" y="3112799"/>
                </a:lnTo>
                <a:lnTo>
                  <a:pt x="0" y="0"/>
                </a:lnTo>
                <a:lnTo>
                  <a:pt x="3896399" y="0"/>
                </a:lnTo>
                <a:lnTo>
                  <a:pt x="3896399" y="31127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8295524" y="6259924"/>
            <a:ext cx="3896995" cy="3182923"/>
          </a:xfrm>
          <a:prstGeom prst="rect">
            <a:avLst/>
          </a:prstGeom>
          <a:ln w="25399">
            <a:solidFill>
              <a:srgbClr val="7F7F7F"/>
            </a:solidFill>
          </a:ln>
        </p:spPr>
        <p:txBody>
          <a:bodyPr vert="horz" wrap="square" lIns="0" tIns="2794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220"/>
              </a:spcBef>
            </a:pPr>
            <a:r>
              <a:rPr lang="en-US" sz="2000" dirty="0">
                <a:solidFill>
                  <a:srgbClr val="595959"/>
                </a:solidFill>
                <a:latin typeface="Calibri"/>
                <a:cs typeface="Calibri"/>
              </a:rPr>
              <a:t>For B2B:</a:t>
            </a:r>
          </a:p>
          <a:p>
            <a:pPr marL="85725">
              <a:lnSpc>
                <a:spcPct val="100000"/>
              </a:lnSpc>
              <a:spcBef>
                <a:spcPts val="220"/>
              </a:spcBef>
            </a:pPr>
            <a:r>
              <a:rPr lang="en-US" sz="2000" dirty="0">
                <a:solidFill>
                  <a:srgbClr val="595959"/>
                </a:solidFill>
                <a:latin typeface="Calibri"/>
                <a:cs typeface="Calibri"/>
              </a:rPr>
              <a:t>Direct sales targeting HR, emphasizing the financial ROI and avoided fines.</a:t>
            </a:r>
          </a:p>
          <a:p>
            <a:pPr marL="85725">
              <a:lnSpc>
                <a:spcPct val="100000"/>
              </a:lnSpc>
              <a:spcBef>
                <a:spcPts val="220"/>
              </a:spcBef>
            </a:pPr>
            <a:r>
              <a:rPr lang="en-US" sz="2000" dirty="0">
                <a:solidFill>
                  <a:srgbClr val="595959"/>
                </a:solidFill>
                <a:latin typeface="Calibri"/>
                <a:cs typeface="Calibri"/>
              </a:rPr>
              <a:t>For B2C: Strategic partnerships with educational institutions, student unions and neurodiversity NGOs to distribute the application directly to students.</a:t>
            </a:r>
          </a:p>
          <a:p>
            <a:pPr marL="85725">
              <a:lnSpc>
                <a:spcPct val="100000"/>
              </a:lnSpc>
              <a:spcBef>
                <a:spcPts val="220"/>
              </a:spcBef>
            </a:pPr>
            <a:endParaRPr sz="2000" dirty="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317024" y="284926"/>
            <a:ext cx="5857240" cy="1207770"/>
          </a:xfrm>
          <a:prstGeom prst="rect">
            <a:avLst/>
          </a:prstGeom>
          <a:ln w="25399">
            <a:solidFill>
              <a:srgbClr val="7F7F7F"/>
            </a:solidFill>
          </a:ln>
        </p:spPr>
        <p:txBody>
          <a:bodyPr vert="horz" wrap="square" lIns="0" tIns="25400" rIns="0" bIns="0" rtlCol="0">
            <a:spAutoFit/>
          </a:bodyPr>
          <a:lstStyle/>
          <a:p>
            <a:pPr marL="85090">
              <a:lnSpc>
                <a:spcPct val="100000"/>
              </a:lnSpc>
              <a:spcBef>
                <a:spcPts val="200"/>
              </a:spcBef>
            </a:pPr>
            <a:r>
              <a:rPr sz="2400" dirty="0">
                <a:latin typeface="Calibri"/>
                <a:cs typeface="Calibri"/>
              </a:rPr>
              <a:t>IDEA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SHORT: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370724" y="1611287"/>
            <a:ext cx="11821795" cy="684530"/>
          </a:xfrm>
          <a:custGeom>
            <a:avLst/>
            <a:gdLst/>
            <a:ahLst/>
            <a:cxnLst/>
            <a:rect l="l" t="t" r="r" b="b"/>
            <a:pathLst>
              <a:path w="11821795" h="684530">
                <a:moveTo>
                  <a:pt x="0" y="0"/>
                </a:moveTo>
                <a:lnTo>
                  <a:pt x="11821199" y="0"/>
                </a:lnTo>
                <a:lnTo>
                  <a:pt x="11821199" y="684299"/>
                </a:lnTo>
                <a:lnTo>
                  <a:pt x="0" y="684299"/>
                </a:lnTo>
                <a:lnTo>
                  <a:pt x="0" y="0"/>
                </a:lnTo>
                <a:close/>
              </a:path>
            </a:pathLst>
          </a:custGeom>
          <a:ln w="25399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452858" y="1592132"/>
            <a:ext cx="11090111" cy="127983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91615">
              <a:lnSpc>
                <a:spcPct val="100000"/>
              </a:lnSpc>
              <a:spcBef>
                <a:spcPts val="100"/>
              </a:spcBef>
            </a:pPr>
            <a:r>
              <a:rPr sz="4000" b="1" dirty="0">
                <a:latin typeface="Cambria"/>
                <a:cs typeface="Cambria"/>
              </a:rPr>
              <a:t>Hardcore</a:t>
            </a:r>
            <a:r>
              <a:rPr sz="4000" b="1" spc="-60" dirty="0">
                <a:latin typeface="Cambria"/>
                <a:cs typeface="Cambria"/>
              </a:rPr>
              <a:t> </a:t>
            </a:r>
            <a:r>
              <a:rPr lang="en-US" sz="4000" b="1" spc="-60" dirty="0">
                <a:solidFill>
                  <a:srgbClr val="F13662"/>
                </a:solidFill>
                <a:latin typeface="Arial MT"/>
                <a:cs typeface="Cambria"/>
              </a:rPr>
              <a:t>Entrepreneur</a:t>
            </a:r>
            <a:r>
              <a:rPr sz="4000" spc="-130" dirty="0">
                <a:solidFill>
                  <a:srgbClr val="F13662"/>
                </a:solidFill>
                <a:latin typeface="Arial MT"/>
                <a:cs typeface="Arial MT"/>
              </a:rPr>
              <a:t> </a:t>
            </a:r>
            <a:r>
              <a:rPr sz="4000" b="1" dirty="0">
                <a:latin typeface="Cambria"/>
                <a:cs typeface="Cambria"/>
              </a:rPr>
              <a:t>hackathon</a:t>
            </a:r>
            <a:r>
              <a:rPr sz="4000" b="1" spc="-60" dirty="0">
                <a:latin typeface="Cambria"/>
                <a:cs typeface="Cambria"/>
              </a:rPr>
              <a:t> </a:t>
            </a:r>
            <a:r>
              <a:rPr lang="en-US" sz="4000" b="1" spc="-25" dirty="0">
                <a:solidFill>
                  <a:srgbClr val="F13662"/>
                </a:solidFill>
                <a:latin typeface="Arial MT"/>
                <a:cs typeface="Cambria"/>
              </a:rPr>
              <a:t>6.0</a:t>
            </a:r>
            <a:endParaRPr sz="40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190"/>
              </a:spcBef>
              <a:tabLst>
                <a:tab pos="5937885" algn="l"/>
              </a:tabLst>
            </a:pPr>
            <a:r>
              <a:rPr sz="2400" dirty="0">
                <a:latin typeface="Calibri"/>
                <a:cs typeface="Calibri"/>
              </a:rPr>
              <a:t>1.PRODUCT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-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PROBLEM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SOLVE</a:t>
            </a:r>
            <a:r>
              <a:rPr sz="2400" dirty="0">
                <a:latin typeface="Calibri"/>
                <a:cs typeface="Calibri"/>
              </a:rPr>
              <a:t>	2.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OUR</a:t>
            </a:r>
            <a:r>
              <a:rPr sz="2400" spc="-35" dirty="0">
                <a:latin typeface="Calibri"/>
                <a:cs typeface="Calibri"/>
              </a:rPr>
              <a:t> TARGET </a:t>
            </a:r>
            <a:r>
              <a:rPr sz="2400" spc="-10" dirty="0">
                <a:latin typeface="Calibri"/>
                <a:cs typeface="Calibri"/>
              </a:rPr>
              <a:t>GROUP</a:t>
            </a:r>
            <a:r>
              <a:rPr lang="en-US" sz="2400" spc="-10" dirty="0">
                <a:latin typeface="Calibri"/>
                <a:cs typeface="Calibri"/>
              </a:rPr>
              <a:t> &amp; </a:t>
            </a:r>
            <a:r>
              <a:rPr lang="en-US" sz="2400" spc="-10" dirty="0">
                <a:latin typeface="Calibri"/>
                <a:cs typeface="Calibri"/>
                <a:hlinkClick r:id="rId3"/>
              </a:rPr>
              <a:t>SDGs </a:t>
            </a:r>
            <a:endParaRPr sz="2400" dirty="0">
              <a:latin typeface="Calibri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5728699" y="2476036"/>
            <a:ext cx="6354445" cy="406400"/>
            <a:chOff x="5728699" y="2476036"/>
            <a:chExt cx="6354445" cy="406400"/>
          </a:xfrm>
        </p:grpSpPr>
        <p:sp>
          <p:nvSpPr>
            <p:cNvPr id="18" name="object 18"/>
            <p:cNvSpPr/>
            <p:nvPr/>
          </p:nvSpPr>
          <p:spPr>
            <a:xfrm>
              <a:off x="5741399" y="2488736"/>
              <a:ext cx="412115" cy="381000"/>
            </a:xfrm>
            <a:custGeom>
              <a:avLst/>
              <a:gdLst/>
              <a:ahLst/>
              <a:cxnLst/>
              <a:rect l="l" t="t" r="r" b="b"/>
              <a:pathLst>
                <a:path w="412114" h="381000">
                  <a:moveTo>
                    <a:pt x="411899" y="380999"/>
                  </a:moveTo>
                  <a:lnTo>
                    <a:pt x="0" y="380999"/>
                  </a:lnTo>
                  <a:lnTo>
                    <a:pt x="0" y="0"/>
                  </a:lnTo>
                  <a:lnTo>
                    <a:pt x="411899" y="0"/>
                  </a:lnTo>
                  <a:lnTo>
                    <a:pt x="411899" y="380999"/>
                  </a:lnTo>
                  <a:close/>
                </a:path>
              </a:pathLst>
            </a:custGeom>
            <a:solidFill>
              <a:srgbClr val="FF7B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741399" y="2488736"/>
              <a:ext cx="412115" cy="381000"/>
            </a:xfrm>
            <a:custGeom>
              <a:avLst/>
              <a:gdLst/>
              <a:ahLst/>
              <a:cxnLst/>
              <a:rect l="l" t="t" r="r" b="b"/>
              <a:pathLst>
                <a:path w="412114" h="381000">
                  <a:moveTo>
                    <a:pt x="0" y="0"/>
                  </a:moveTo>
                  <a:lnTo>
                    <a:pt x="411899" y="0"/>
                  </a:lnTo>
                  <a:lnTo>
                    <a:pt x="411899" y="380999"/>
                  </a:lnTo>
                  <a:lnTo>
                    <a:pt x="0" y="380999"/>
                  </a:lnTo>
                  <a:lnTo>
                    <a:pt x="0" y="0"/>
                  </a:lnTo>
                  <a:close/>
                </a:path>
              </a:pathLst>
            </a:custGeom>
            <a:ln w="25399">
              <a:solidFill>
                <a:srgbClr val="00B0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1658550" y="2488736"/>
              <a:ext cx="412115" cy="381000"/>
            </a:xfrm>
            <a:custGeom>
              <a:avLst/>
              <a:gdLst/>
              <a:ahLst/>
              <a:cxnLst/>
              <a:rect l="l" t="t" r="r" b="b"/>
              <a:pathLst>
                <a:path w="412115" h="381000">
                  <a:moveTo>
                    <a:pt x="411899" y="380999"/>
                  </a:moveTo>
                  <a:lnTo>
                    <a:pt x="0" y="380999"/>
                  </a:lnTo>
                  <a:lnTo>
                    <a:pt x="0" y="0"/>
                  </a:lnTo>
                  <a:lnTo>
                    <a:pt x="411899" y="0"/>
                  </a:lnTo>
                  <a:lnTo>
                    <a:pt x="411899" y="380999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1658550" y="2488736"/>
              <a:ext cx="412115" cy="381000"/>
            </a:xfrm>
            <a:custGeom>
              <a:avLst/>
              <a:gdLst/>
              <a:ahLst/>
              <a:cxnLst/>
              <a:rect l="l" t="t" r="r" b="b"/>
              <a:pathLst>
                <a:path w="412115" h="381000">
                  <a:moveTo>
                    <a:pt x="0" y="0"/>
                  </a:moveTo>
                  <a:lnTo>
                    <a:pt x="411899" y="0"/>
                  </a:lnTo>
                  <a:lnTo>
                    <a:pt x="411899" y="380999"/>
                  </a:lnTo>
                  <a:lnTo>
                    <a:pt x="0" y="380999"/>
                  </a:lnTo>
                  <a:lnTo>
                    <a:pt x="0" y="0"/>
                  </a:lnTo>
                  <a:close/>
                </a:path>
              </a:pathLst>
            </a:custGeom>
            <a:ln w="25399">
              <a:solidFill>
                <a:srgbClr val="00B0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2" name="object 22"/>
          <p:cNvGrpSpPr/>
          <p:nvPr/>
        </p:nvGrpSpPr>
        <p:grpSpPr>
          <a:xfrm>
            <a:off x="3773949" y="3050150"/>
            <a:ext cx="8430895" cy="3041650"/>
            <a:chOff x="3773949" y="3050150"/>
            <a:chExt cx="8430895" cy="3041650"/>
          </a:xfrm>
        </p:grpSpPr>
        <p:sp>
          <p:nvSpPr>
            <p:cNvPr id="23" name="object 23"/>
            <p:cNvSpPr/>
            <p:nvPr/>
          </p:nvSpPr>
          <p:spPr>
            <a:xfrm>
              <a:off x="3786649" y="5697975"/>
              <a:ext cx="412115" cy="381000"/>
            </a:xfrm>
            <a:custGeom>
              <a:avLst/>
              <a:gdLst/>
              <a:ahLst/>
              <a:cxnLst/>
              <a:rect l="l" t="t" r="r" b="b"/>
              <a:pathLst>
                <a:path w="412114" h="381000">
                  <a:moveTo>
                    <a:pt x="411899" y="380999"/>
                  </a:moveTo>
                  <a:lnTo>
                    <a:pt x="0" y="380999"/>
                  </a:lnTo>
                  <a:lnTo>
                    <a:pt x="0" y="0"/>
                  </a:lnTo>
                  <a:lnTo>
                    <a:pt x="411899" y="0"/>
                  </a:lnTo>
                  <a:lnTo>
                    <a:pt x="411899" y="380999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786649" y="5697975"/>
              <a:ext cx="412115" cy="381000"/>
            </a:xfrm>
            <a:custGeom>
              <a:avLst/>
              <a:gdLst/>
              <a:ahLst/>
              <a:cxnLst/>
              <a:rect l="l" t="t" r="r" b="b"/>
              <a:pathLst>
                <a:path w="412114" h="381000">
                  <a:moveTo>
                    <a:pt x="0" y="0"/>
                  </a:moveTo>
                  <a:lnTo>
                    <a:pt x="411899" y="0"/>
                  </a:lnTo>
                  <a:lnTo>
                    <a:pt x="411899" y="380999"/>
                  </a:lnTo>
                  <a:lnTo>
                    <a:pt x="0" y="380999"/>
                  </a:lnTo>
                  <a:lnTo>
                    <a:pt x="0" y="0"/>
                  </a:lnTo>
                  <a:close/>
                </a:path>
              </a:pathLst>
            </a:custGeom>
            <a:ln w="25399">
              <a:solidFill>
                <a:srgbClr val="00B0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7696200" y="5697975"/>
              <a:ext cx="412115" cy="381000"/>
            </a:xfrm>
            <a:custGeom>
              <a:avLst/>
              <a:gdLst/>
              <a:ahLst/>
              <a:cxnLst/>
              <a:rect l="l" t="t" r="r" b="b"/>
              <a:pathLst>
                <a:path w="412115" h="381000">
                  <a:moveTo>
                    <a:pt x="411899" y="380999"/>
                  </a:moveTo>
                  <a:lnTo>
                    <a:pt x="0" y="380999"/>
                  </a:lnTo>
                  <a:lnTo>
                    <a:pt x="0" y="0"/>
                  </a:lnTo>
                  <a:lnTo>
                    <a:pt x="411899" y="0"/>
                  </a:lnTo>
                  <a:lnTo>
                    <a:pt x="411899" y="380999"/>
                  </a:lnTo>
                  <a:close/>
                </a:path>
              </a:pathLst>
            </a:custGeom>
            <a:solidFill>
              <a:srgbClr val="F696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7696200" y="5697975"/>
              <a:ext cx="412115" cy="381000"/>
            </a:xfrm>
            <a:custGeom>
              <a:avLst/>
              <a:gdLst/>
              <a:ahLst/>
              <a:cxnLst/>
              <a:rect l="l" t="t" r="r" b="b"/>
              <a:pathLst>
                <a:path w="412115" h="381000">
                  <a:moveTo>
                    <a:pt x="0" y="0"/>
                  </a:moveTo>
                  <a:lnTo>
                    <a:pt x="411899" y="0"/>
                  </a:lnTo>
                  <a:lnTo>
                    <a:pt x="411899" y="380999"/>
                  </a:lnTo>
                  <a:lnTo>
                    <a:pt x="0" y="380999"/>
                  </a:lnTo>
                  <a:lnTo>
                    <a:pt x="0" y="0"/>
                  </a:lnTo>
                  <a:close/>
                </a:path>
              </a:pathLst>
            </a:custGeom>
            <a:ln w="25399">
              <a:solidFill>
                <a:srgbClr val="00B0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1605750" y="5697975"/>
              <a:ext cx="412115" cy="381000"/>
            </a:xfrm>
            <a:custGeom>
              <a:avLst/>
              <a:gdLst/>
              <a:ahLst/>
              <a:cxnLst/>
              <a:rect l="l" t="t" r="r" b="b"/>
              <a:pathLst>
                <a:path w="412115" h="381000">
                  <a:moveTo>
                    <a:pt x="411899" y="380999"/>
                  </a:moveTo>
                  <a:lnTo>
                    <a:pt x="0" y="380999"/>
                  </a:lnTo>
                  <a:lnTo>
                    <a:pt x="0" y="0"/>
                  </a:lnTo>
                  <a:lnTo>
                    <a:pt x="411899" y="0"/>
                  </a:lnTo>
                  <a:lnTo>
                    <a:pt x="411899" y="380999"/>
                  </a:lnTo>
                  <a:close/>
                </a:path>
              </a:pathLst>
            </a:custGeom>
            <a:solidFill>
              <a:srgbClr val="FF7B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1605750" y="5697975"/>
              <a:ext cx="412115" cy="381000"/>
            </a:xfrm>
            <a:custGeom>
              <a:avLst/>
              <a:gdLst/>
              <a:ahLst/>
              <a:cxnLst/>
              <a:rect l="l" t="t" r="r" b="b"/>
              <a:pathLst>
                <a:path w="412115" h="381000">
                  <a:moveTo>
                    <a:pt x="0" y="0"/>
                  </a:moveTo>
                  <a:lnTo>
                    <a:pt x="411899" y="0"/>
                  </a:lnTo>
                  <a:lnTo>
                    <a:pt x="411899" y="380999"/>
                  </a:lnTo>
                  <a:lnTo>
                    <a:pt x="0" y="380999"/>
                  </a:lnTo>
                  <a:lnTo>
                    <a:pt x="0" y="0"/>
                  </a:lnTo>
                  <a:close/>
                </a:path>
              </a:pathLst>
            </a:custGeom>
            <a:ln w="25399">
              <a:solidFill>
                <a:srgbClr val="00B0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6299162" y="3062850"/>
              <a:ext cx="5893435" cy="2551430"/>
            </a:xfrm>
            <a:custGeom>
              <a:avLst/>
              <a:gdLst/>
              <a:ahLst/>
              <a:cxnLst/>
              <a:rect l="l" t="t" r="r" b="b"/>
              <a:pathLst>
                <a:path w="5893434" h="2551429">
                  <a:moveTo>
                    <a:pt x="0" y="0"/>
                  </a:moveTo>
                  <a:lnTo>
                    <a:pt x="5892899" y="0"/>
                  </a:lnTo>
                  <a:lnTo>
                    <a:pt x="5892899" y="2550899"/>
                  </a:lnTo>
                  <a:lnTo>
                    <a:pt x="0" y="2550899"/>
                  </a:lnTo>
                  <a:lnTo>
                    <a:pt x="0" y="0"/>
                  </a:lnTo>
                  <a:close/>
                </a:path>
              </a:pathLst>
            </a:custGeom>
            <a:ln w="25399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370724" y="6259924"/>
            <a:ext cx="3896995" cy="3177793"/>
          </a:xfrm>
          <a:prstGeom prst="rect">
            <a:avLst/>
          </a:prstGeom>
          <a:ln w="25399">
            <a:solidFill>
              <a:srgbClr val="7F7F7F"/>
            </a:solidFill>
          </a:ln>
        </p:spPr>
        <p:txBody>
          <a:bodyPr vert="horz" wrap="square" lIns="0" tIns="2794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220"/>
              </a:spcBef>
            </a:pPr>
            <a:r>
              <a:rPr lang="en-US" dirty="0">
                <a:solidFill>
                  <a:srgbClr val="595959"/>
                </a:solidFill>
                <a:latin typeface="Calibri"/>
                <a:cs typeface="Calibri"/>
              </a:rPr>
              <a:t>SPECIFIC: Launch B2B pilot programs for corporate HR departments and release the B2C mobile app for students.</a:t>
            </a:r>
          </a:p>
          <a:p>
            <a:pPr marL="85725">
              <a:lnSpc>
                <a:spcPct val="100000"/>
              </a:lnSpc>
              <a:spcBef>
                <a:spcPts val="220"/>
              </a:spcBef>
            </a:pPr>
            <a:r>
              <a:rPr lang="en-US" dirty="0">
                <a:solidFill>
                  <a:srgbClr val="595959"/>
                </a:solidFill>
                <a:latin typeface="Calibri"/>
                <a:cs typeface="Calibri"/>
              </a:rPr>
              <a:t>MEASURABLE: Three corporate clients and 1000 student users with a 30% retention rate.</a:t>
            </a:r>
          </a:p>
          <a:p>
            <a:pPr marL="85725">
              <a:lnSpc>
                <a:spcPct val="100000"/>
              </a:lnSpc>
              <a:spcBef>
                <a:spcPts val="220"/>
              </a:spcBef>
            </a:pPr>
            <a:r>
              <a:rPr lang="en-US" dirty="0">
                <a:solidFill>
                  <a:srgbClr val="595959"/>
                </a:solidFill>
                <a:latin typeface="Calibri"/>
                <a:cs typeface="Calibri"/>
              </a:rPr>
              <a:t>ATTAINABLE: By using open-source AI models, scalability is highly achievable.</a:t>
            </a:r>
          </a:p>
          <a:p>
            <a:pPr marL="85725">
              <a:lnSpc>
                <a:spcPct val="100000"/>
              </a:lnSpc>
              <a:spcBef>
                <a:spcPts val="220"/>
              </a:spcBef>
            </a:pPr>
            <a:r>
              <a:rPr lang="en-US" dirty="0">
                <a:solidFill>
                  <a:srgbClr val="595959"/>
                </a:solidFill>
                <a:latin typeface="Calibri"/>
                <a:cs typeface="Calibri"/>
              </a:rPr>
              <a:t>RELEVANT: Helps individuals learn better</a:t>
            </a:r>
          </a:p>
          <a:p>
            <a:pPr marL="85725">
              <a:lnSpc>
                <a:spcPct val="100000"/>
              </a:lnSpc>
              <a:spcBef>
                <a:spcPts val="220"/>
              </a:spcBef>
            </a:pPr>
            <a:r>
              <a:rPr lang="en-US" dirty="0">
                <a:solidFill>
                  <a:srgbClr val="595959"/>
                </a:solidFill>
                <a:latin typeface="Calibri"/>
                <a:cs typeface="Calibri"/>
              </a:rPr>
              <a:t>TIMELY: Achieve metrics within 12 months .</a:t>
            </a:r>
            <a:endParaRPr dirty="0">
              <a:latin typeface="Calibri"/>
              <a:cs typeface="Calibri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54DDD7A-7AC1-2D9C-6A9E-7F9272A2D73D}"/>
              </a:ext>
            </a:extLst>
          </p:cNvPr>
          <p:cNvSpPr txBox="1"/>
          <p:nvPr/>
        </p:nvSpPr>
        <p:spPr>
          <a:xfrm>
            <a:off x="397123" y="288646"/>
            <a:ext cx="5869576" cy="1200329"/>
          </a:xfrm>
          <a:prstGeom prst="rect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+mj-lt"/>
              </a:rPr>
              <a:t>PROJECT NAME : ANYBASE LXP</a:t>
            </a:r>
          </a:p>
          <a:p>
            <a:r>
              <a:rPr lang="en-US" sz="2400" dirty="0">
                <a:latin typeface="+mj-lt"/>
              </a:rPr>
              <a:t>TEAM MEMBERS : Risca </a:t>
            </a:r>
            <a:r>
              <a:rPr lang="en-US" sz="2400">
                <a:latin typeface="+mj-lt"/>
              </a:rPr>
              <a:t>Victor Bogdan</a:t>
            </a:r>
            <a:endParaRPr lang="en-US" sz="2400" dirty="0">
              <a:latin typeface="+mj-lt"/>
            </a:endParaRPr>
          </a:p>
          <a:p>
            <a:endParaRPr lang="en-US" sz="2400" dirty="0">
              <a:latin typeface="+mj-lt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062E642-CF4D-A9E4-82E1-F307DCE07B3C}"/>
              </a:ext>
            </a:extLst>
          </p:cNvPr>
          <p:cNvSpPr txBox="1"/>
          <p:nvPr/>
        </p:nvSpPr>
        <p:spPr>
          <a:xfrm>
            <a:off x="6369740" y="583871"/>
            <a:ext cx="580452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/>
              <a:t>      A cognitive translator meant to transform both corporate and educational documents into easy to understand, neurodivergent-friendly formats.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F02903-E5DD-0892-5ED4-2DB38A1A2264}"/>
              </a:ext>
            </a:extLst>
          </p:cNvPr>
          <p:cNvSpPr txBox="1"/>
          <p:nvPr/>
        </p:nvSpPr>
        <p:spPr>
          <a:xfrm>
            <a:off x="6299162" y="3062850"/>
            <a:ext cx="589335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Corporations (B2B) as well as students and educational institutions(B2C)</a:t>
            </a:r>
          </a:p>
          <a:p>
            <a:endParaRPr lang="en-US" dirty="0"/>
          </a:p>
          <a:p>
            <a:r>
              <a:rPr lang="en-US" b="1" dirty="0"/>
              <a:t>SDG’s : </a:t>
            </a:r>
            <a:r>
              <a:rPr lang="en-US" dirty="0"/>
              <a:t>- SDG 4: Providing zero-day accessibility for learning materials</a:t>
            </a:r>
          </a:p>
          <a:p>
            <a:pPr marL="285750" indent="-285750">
              <a:buFontTx/>
              <a:buChar char="-"/>
            </a:pPr>
            <a:r>
              <a:rPr lang="en-US" dirty="0"/>
              <a:t>SDG 8: Lowering barriers to employment for neurodivergent adults</a:t>
            </a:r>
          </a:p>
          <a:p>
            <a:pPr marL="285750" indent="-285750">
              <a:buFontTx/>
              <a:buChar char="-"/>
            </a:pPr>
            <a:r>
              <a:rPr lang="en-US" dirty="0"/>
              <a:t>SDG 10: Equalizing workplace and academic environments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B4D0467-5585-636A-B77F-F0322FF59B63}"/>
              </a:ext>
            </a:extLst>
          </p:cNvPr>
          <p:cNvSpPr txBox="1"/>
          <p:nvPr/>
        </p:nvSpPr>
        <p:spPr>
          <a:xfrm>
            <a:off x="370724" y="3053850"/>
            <a:ext cx="589597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Under EU and national law, companies that meet certain employee thresholds should also meet a set percentage of employees that suffer from some sort of disability, yet a decent number of companies prefer to pay the fines that come with not integrating these workers into their workforce.</a:t>
            </a:r>
          </a:p>
          <a:p>
            <a:r>
              <a:rPr lang="en-US" dirty="0"/>
              <a:t>Furthermore, over 90% of individuals that start an online learning course don’t finish it, with about 70% dropping out in the first 2-4 weeks.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8914</TotalTime>
  <Words>328</Words>
  <Application>Microsoft Office PowerPoint</Application>
  <PresentationFormat>A3 Paper (297x420 mm)</PresentationFormat>
  <Paragraphs>29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Arial MT</vt:lpstr>
      <vt:lpstr>Calibri</vt:lpstr>
      <vt:lpstr>Cambria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V.I.S.Canvas.pptx</dc:title>
  <dc:creator>Victor Risca</dc:creator>
  <cp:lastModifiedBy>Victor Risca</cp:lastModifiedBy>
  <cp:revision>5</cp:revision>
  <dcterms:created xsi:type="dcterms:W3CDTF">2025-02-07T13:41:18Z</dcterms:created>
  <dcterms:modified xsi:type="dcterms:W3CDTF">2026-04-28T20:09:00Z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2025-02-07T00:00:00Z</vt:filetime>
  </property>
  <property fmtid="{D5CDD505-2E9C-101B-9397-08002B2CF9AE}" pid="3" name="Creator">
    <vt:lpwstr>Google</vt:lpwstr>
  </property>
  <property fmtid="{D5CDD505-2E9C-101B-9397-08002B2CF9AE}" pid="4" name="LastSaved">
    <vt:filetime>2025-02-07T00:00:00Z</vt:filetime>
  </property>
</Properties>
</file>